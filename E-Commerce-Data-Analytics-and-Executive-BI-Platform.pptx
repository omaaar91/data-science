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3.png"/><Relationship Id="rId8" Type="http://schemas.openxmlformats.org/officeDocument/2006/relationships/image" Target="../media/image-4-4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16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E-Commerce Data Analytics &amp; Executive BI Platform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4911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Pipeline: Web Scraping, Data Warehousing, SQL Analytics &amp;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899767"/>
            <a:ext cx="10868745" cy="1905794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899767"/>
            <a:ext cx="5434373" cy="952897"/>
          </a:xfrm>
          <a:custGeom>
            <a:avLst/>
            <a:gdLst/>
            <a:ahLst/>
            <a:cxnLst/>
            <a:rect l="l" t="t" r="r" b="b"/>
            <a:pathLst>
              <a:path w="5434373" h="952897">
                <a:moveTo>
                  <a:pt x="20674" y="0"/>
                </a:moveTo>
                <a:lnTo>
                  <a:pt x="5434373" y="0"/>
                </a:lnTo>
                <a:lnTo>
                  <a:pt x="5434373" y="952897"/>
                </a:lnTo>
                <a:lnTo>
                  <a:pt x="0" y="952897"/>
                </a:lnTo>
                <a:lnTo>
                  <a:pt x="0" y="20674"/>
                </a:lnTo>
                <a:arcTo hR="20674" wR="20674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26769" y="3065066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12,500 Orders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6769" y="3422749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fact table powering all analytics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899767"/>
            <a:ext cx="5434373" cy="952897"/>
          </a:xfrm>
          <a:custGeom>
            <a:avLst/>
            <a:gdLst/>
            <a:ahLst/>
            <a:cxnLst/>
            <a:rect l="l" t="t" r="r" b="b"/>
            <a:pathLst>
              <a:path w="5434373" h="952897">
                <a:moveTo>
                  <a:pt x="0" y="0"/>
                </a:moveTo>
                <a:lnTo>
                  <a:pt x="5413699" y="0"/>
                </a:lnTo>
                <a:arcTo hR="20674" wR="20674" stAng="16200000" swAng="5400000"/>
                <a:lnTo>
                  <a:pt x="5434373" y="952897"/>
                </a:lnTo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899767"/>
            <a:ext cx="19050" cy="95289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3065066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2,000 Customers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3422749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Synthetic + scraped data across all segments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852664"/>
            <a:ext cx="5434373" cy="952897"/>
          </a:xfrm>
          <a:custGeom>
            <a:avLst/>
            <a:gdLst/>
            <a:ahLst/>
            <a:cxnLst/>
            <a:rect l="l" t="t" r="r" b="b"/>
            <a:pathLst>
              <a:path w="5434373" h="952897">
                <a:moveTo>
                  <a:pt x="0" y="0"/>
                </a:moveTo>
                <a:lnTo>
                  <a:pt x="5434373" y="0"/>
                </a:lnTo>
                <a:lnTo>
                  <a:pt x="5434373" y="952897"/>
                </a:lnTo>
                <a:lnTo>
                  <a:pt x="20674" y="952897"/>
                </a:lnTo>
                <a:arcTo hR="20674" wR="20674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852664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826769" y="4017962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40 Sales Reps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769" y="4375646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Commission &amp; productivity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3852664"/>
            <a:ext cx="5434373" cy="952897"/>
          </a:xfrm>
          <a:custGeom>
            <a:avLst/>
            <a:gdLst/>
            <a:ahLst/>
            <a:cxnLst/>
            <a:rect l="l" t="t" r="r" b="b"/>
            <a:pathLst>
              <a:path w="5434373" h="952897">
                <a:moveTo>
                  <a:pt x="0" y="0"/>
                </a:moveTo>
                <a:lnTo>
                  <a:pt x="5434373" y="0"/>
                </a:lnTo>
                <a:lnTo>
                  <a:pt x="5434373" y="932222"/>
                </a:lnTo>
                <a:arcTo hR="20674" wR="20674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852664"/>
            <a:ext cx="19050" cy="95289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852664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6261142" y="4017962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50 Products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1142" y="4375646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catalog with margin &amp; inventory visibility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475" y="49915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Analytics &amp; BI Team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Consultant-Grade Executive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 &amp; Project Objectives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812528"/>
            <a:ext cx="5470785" cy="3997722"/>
          </a:xfrm>
          <a:prstGeom prst="roundRect">
            <a:avLst>
              <a:gd name="adj" fmla="val 621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97782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401590"/>
            <a:ext cx="514019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operating across multi-channel sales environments face a critical visibility gap. Without a unified data layer, sales rep commission allocation, inventory exposure, and revenue attribution remain siloed — making strategic decisions reactive rather than data-driven.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873500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unified view across sales channels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Commission tracking done manually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Inventory blind spots causing stock-out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97782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Solution Delivered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401590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fully engineered, end-to-end analytics platform built on a centralized Star Schema data warehouse, automated ETL pipeline, and a 3-page interactive Power BI dashboard.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344267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Star Schema warehouse with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12,500 orders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ETL with cleaning &amp; transformation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BI dashboard — 3 interactive pages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41910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4842867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Optimized sales commission allocation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Identified top 10 revenue drivers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Reduced stock-out risks through inventory visibility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82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System Architecture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3563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4-stage data pipeline transforms raw web data into executive-ready business intelligence — fully automated, auditable, and scalable.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86285"/>
            <a:ext cx="5434373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013075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Stage 1: Data Extraction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370759"/>
            <a:ext cx="5103784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 scraping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50 books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via Python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BeautifulSoup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titles, prices, ratings, and availability captured at source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186285"/>
            <a:ext cx="5434373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142" y="3013075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Stage 2: Synthetic Simulation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61142" y="3370759"/>
            <a:ext cx="5103784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2,000 customers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generated via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Faker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library +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 sales reps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realistic demographic and transactional profiles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077990"/>
            <a:ext cx="5434373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769" y="490478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Stage 3: ETL &amp; Cleaning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6769" y="5262463"/>
            <a:ext cx="5103784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regex cleaning, null handling, and type transformations — ensuring data integrity before warehouse load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077990"/>
            <a:ext cx="5434373" cy="661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1142" y="490478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Stage 4: Warehousing &amp; BI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261142" y="5262463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 Server Star Schema →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12 T-SQL analytics queries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Power BI interactive dashboards for executive consumption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625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Relational Data Model: Star Schema on SQL Server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44997"/>
            <a:ext cx="581893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Schema Architecture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3396"/>
            <a:ext cx="5818935" cy="1120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380" y="1777107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Fact_Orders — Core Transaction Table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1380" y="2129730"/>
            <a:ext cx="541532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12,500 transactions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capturing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OrderDate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and foreign keys linking all four dimensions. This is the analytical engine of the warehouse.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60576"/>
            <a:ext cx="5818935" cy="11142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380" y="3024287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Dim_Customers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1380" y="3376910"/>
            <a:ext cx="541532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2,000 customer records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demographics, geography, and RFM segmentation attributes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1405"/>
            <a:ext cx="5818935" cy="8971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380" y="4265116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Dim_Products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01380" y="4617740"/>
            <a:ext cx="5415323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50-product catalog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genre, price, rating, stock level, and margin data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25145"/>
            <a:ext cx="5818935" cy="11142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1380" y="5288855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Dim_Employees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01380" y="5641479"/>
            <a:ext cx="541532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 sales representatives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department, salary, commission rate, and performance tier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735594" y="1118394"/>
            <a:ext cx="4905054" cy="5263356"/>
          </a:xfrm>
          <a:prstGeom prst="roundRect">
            <a:avLst>
              <a:gd name="adj" fmla="val 443"/>
            </a:avLst>
          </a:prstGeom>
          <a:solidFill>
            <a:srgbClr val="04318F"/>
          </a:solidFill>
          <a:ln/>
        </p:spPr>
      </p:sp>
      <p:sp>
        <p:nvSpPr>
          <p:cNvPr id="17" name="Text 11"/>
          <p:cNvSpPr/>
          <p:nvPr/>
        </p:nvSpPr>
        <p:spPr>
          <a:xfrm>
            <a:off x="6880251" y="1244997"/>
            <a:ext cx="46157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Integrity &amp; Governance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880251" y="1597620"/>
            <a:ext cx="461573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warehouse enforces strict relational integrity and is optimized for high-frequency analytical queries.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880251" y="2145705"/>
            <a:ext cx="4615739" cy="117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Primary &amp; Foreign Key constraints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all dimension-fact joins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Indexed views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query optimization and sub-second response times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Automated database backups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(.bak) for disaster recovery compliance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880251" y="3462040"/>
            <a:ext cx="4615739" cy="734219"/>
          </a:xfrm>
          <a:prstGeom prst="roundRect">
            <a:avLst>
              <a:gd name="adj" fmla="val 2957"/>
            </a:avLst>
          </a:prstGeom>
          <a:solidFill>
            <a:srgbClr val="011B7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4909" y="3650555"/>
            <a:ext cx="180871" cy="1446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50437" y="3612059"/>
            <a:ext cx="4000896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Star Schema design enables Power BI to generate optimized DAX queries with minimal model complexity.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9425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Advanced SQL Business Intelligence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08596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Twelve production-grade T-SQL queries power the analytical layer — spanning financial KPIs, time-series analysis, customer segmentation, and departmental ROI.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005806"/>
            <a:ext cx="5354206" cy="2106216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824190" y="2168525"/>
            <a:ext cx="488342" cy="48835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8429" y="2302768"/>
            <a:ext cx="219764" cy="2197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190" y="2817118"/>
            <a:ext cx="50287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Financial KPIs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4190" y="3167559"/>
            <a:ext cx="50287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Revenue, Average Order Value (AOV), and Active Customer counts — computed as rolling and point-in-time aggregates for C-suite reporting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5915" y="2005806"/>
            <a:ext cx="5354305" cy="2106216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338630" y="2168525"/>
            <a:ext cx="488342" cy="48835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2869" y="2302768"/>
            <a:ext cx="219764" cy="2197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8630" y="2817118"/>
            <a:ext cx="50288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Time-Series Growth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38630" y="3167559"/>
            <a:ext cx="5028876" cy="781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Month-over-Month (MoM) revenue velocity engineered using the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LAG()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Window Function — enabling precise period-over-period delta tracking without subqueries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61475" y="4272260"/>
            <a:ext cx="5354206" cy="2106216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24190" y="4434979"/>
            <a:ext cx="488342" cy="48835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429" y="4569222"/>
            <a:ext cx="219764" cy="2197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190" y="5083572"/>
            <a:ext cx="50287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Segmentation: RFM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4190" y="5434013"/>
            <a:ext cx="5028777" cy="781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Recency, Frequency, Monetary (RFM) Matrix built using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NTILE(5)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bucketing 2,000 customers into five behavioral tiers for targeted retention strategy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5915" y="4272260"/>
            <a:ext cx="5354305" cy="2106216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338630" y="4434979"/>
            <a:ext cx="488342" cy="48835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2869" y="4569222"/>
            <a:ext cx="219764" cy="21977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8630" y="5083572"/>
            <a:ext cx="50288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Departmental ROI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38630" y="5434013"/>
            <a:ext cx="502887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Sales-to-Salary ratios and commission payout analysis — identifying which departments generate the highest return per dollar of compensation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38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Business Insights &amp; Actionable Recommendations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8127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high-confidence findings derived from SQL analytics and Power BI exploration — each with a direct, executable business action and quantified impact.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96542"/>
            <a:ext cx="3512653" cy="3427512"/>
          </a:xfrm>
          <a:prstGeom prst="roundRect">
            <a:avLst>
              <a:gd name="adj" fmla="val 72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2661841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 1: Category Performance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3019524"/>
            <a:ext cx="3182064" cy="248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Fiction &amp; Non-Fiction drive 60% of gross margins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disproportionate contribution from just two genre categories across the 50-product catalog.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Action: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Increase supplier reorder volumes for high-margin categories. Negotiate preferential pricing tiers with top-performing genre publishers to protect margin as volume scales.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496542"/>
            <a:ext cx="3512752" cy="3427512"/>
          </a:xfrm>
          <a:prstGeom prst="roundRect">
            <a:avLst>
              <a:gd name="adj" fmla="val 72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504716" y="2661841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 2: Sales Team Excellence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4716" y="3019524"/>
            <a:ext cx="3182163" cy="221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Top 10 reps generate 42% of total revenue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concentrated performance distribution across a 40-person sales organization.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Action: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Document and replicate the B2B sales playbook of top performers. Deploy structured coaching programs and peer mentorship to lift the median rep toward top-quartile performance.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496542"/>
            <a:ext cx="3512653" cy="3427512"/>
          </a:xfrm>
          <a:prstGeom prst="roundRect">
            <a:avLst>
              <a:gd name="adj" fmla="val 72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82762" y="2661841"/>
            <a:ext cx="3182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 3: Customer Retention Opportunity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2762" y="3277989"/>
            <a:ext cx="3182064" cy="248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High-value RFM segment = 18% of users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small but disproportionately valuable customer cohort identified through NTILE(5) behavioral scoring.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Action: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Implement targeted loyalty retention programs for this segment. Personalized outreach, early access offers, and VIP tiers can materially reduce churn risk among the highest-LTV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995"/>
            <a:ext cx="10868745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Tech Stack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015504"/>
            <a:ext cx="1086874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end-to-end platform demonstrates that a fully integrated analytics pipeline — from raw web data to executive dashboards — can be engineered with modern open-source and enterprise tools, delivering measurable business impact at every layer.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83292" y="1383109"/>
            <a:ext cx="5458383" cy="4940796"/>
          </a:xfrm>
          <a:prstGeom prst="roundRect">
            <a:avLst>
              <a:gd name="adj" fmla="val 330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691736" y="1454249"/>
            <a:ext cx="5241496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Technologies Deployed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736" y="1703784"/>
            <a:ext cx="271257" cy="2712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990" y="1703784"/>
            <a:ext cx="4881242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Python Ecosystem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51990" y="1944390"/>
            <a:ext cx="4881242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Python, Pandas, BeautifulSoup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data extraction, transformation, and cleaning pipeline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736" y="2230537"/>
            <a:ext cx="271257" cy="2712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990" y="2230537"/>
            <a:ext cx="4881242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Faker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51990" y="2471142"/>
            <a:ext cx="4881242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Synthetic data generation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2,000 realistic customer profiles and 40 sales rep records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736" y="2757289"/>
            <a:ext cx="271257" cy="2712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990" y="2757289"/>
            <a:ext cx="4881242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Microsoft SQL Server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051990" y="2997895"/>
            <a:ext cx="4881242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warehousing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Star Schema, T-SQL analytics, indexed views, automated backups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736" y="3284041"/>
            <a:ext cx="271257" cy="2712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990" y="3284041"/>
            <a:ext cx="4881242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&amp; Excel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051990" y="3524647"/>
            <a:ext cx="4881242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Business intelligence &amp; reporting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3-page interactive dashboard with DAX time intelligence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6234552" y="1454249"/>
            <a:ext cx="530201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Platform Outcomes at a Glance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234552" y="1757958"/>
            <a:ext cx="5302018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12.5K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6234552" y="2223691"/>
            <a:ext cx="530201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Orders Analyzed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234552" y="2464296"/>
            <a:ext cx="5302018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transaction history in Star Schema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34552" y="2804616"/>
            <a:ext cx="5302018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234552" y="3270349"/>
            <a:ext cx="530201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T-SQL Queries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234552" y="3510955"/>
            <a:ext cx="5302018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analytics covering all KPIs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234552" y="3851275"/>
            <a:ext cx="5302018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234552" y="4317008"/>
            <a:ext cx="530201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BI Dashboard Pages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234552" y="4557613"/>
            <a:ext cx="5302018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Executive, Sales, and Inventory views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6234552" y="4897934"/>
            <a:ext cx="5302018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42%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6234552" y="5363666"/>
            <a:ext cx="530201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Concentration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234552" y="5604272"/>
            <a:ext cx="5302018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 10 reps — key strategic finding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397267" y="5892205"/>
            <a:ext cx="513930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Thank You &amp; Questions?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This platform is production-ready and extensible. Next phases may include real-time streaming ingestion, ML-based demand forecasting, and automated alerting via Power Automate.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234552" y="5828109"/>
            <a:ext cx="12700" cy="415727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2026-09-16T15:59:44Z</dcterms:created>
  <dcterms:modified xsi:type="dcterms:W3CDTF">2026-09-16T15:59:44Z</dcterms:modified>
</cp:coreProperties>
</file>